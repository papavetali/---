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21" name="Уровень текста 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30" name="Уровень текста 1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9" name="Уровень текста 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8" name="Уровень текста 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73" name="Уровень текста 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Уровень текста 1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Oval 1"/>
          <p:cNvSpPr/>
          <p:nvPr/>
        </p:nvSpPr>
        <p:spPr>
          <a:xfrm>
            <a:off x="-274322" y="-137162"/>
            <a:ext cx="2926084" cy="2011684"/>
          </a:xfrm>
          <a:prstGeom prst="ellipse">
            <a:avLst/>
          </a:prstGeom>
          <a:solidFill>
            <a:srgbClr val="FFB5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Rounded Rectangle 3"/>
          <p:cNvSpPr/>
          <p:nvPr/>
        </p:nvSpPr>
        <p:spPr>
          <a:xfrm>
            <a:off x="594359" y="640080"/>
            <a:ext cx="10972801" cy="5394960"/>
          </a:xfrm>
          <a:prstGeom prst="roundRect">
            <a:avLst>
              <a:gd name="adj" fmla="val 16667"/>
            </a:avLst>
          </a:prstGeom>
          <a:solidFill>
            <a:srgbClr val="FFFBF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960119" y="914400"/>
            <a:ext cx="3566162" cy="36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>
              <a:defRPr b="1" sz="1500">
                <a:solidFill>
                  <a:srgbClr val="FF8DA4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КУРСОВОЙ ПРОЕКТ</a:t>
            </a:r>
          </a:p>
        </p:txBody>
      </p:sp>
      <p:sp>
        <p:nvSpPr>
          <p:cNvPr id="98" name="Rounded Rectangle 10"/>
          <p:cNvSpPr/>
          <p:nvPr/>
        </p:nvSpPr>
        <p:spPr>
          <a:xfrm>
            <a:off x="7525225" y="1165858"/>
            <a:ext cx="3429002" cy="4343403"/>
          </a:xfrm>
          <a:prstGeom prst="roundRect">
            <a:avLst>
              <a:gd name="adj" fmla="val 16667"/>
            </a:avLst>
          </a:prstGeom>
          <a:solidFill>
            <a:srgbClr val="1C2C4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TextBox 16"/>
          <p:cNvSpPr txBox="1"/>
          <p:nvPr/>
        </p:nvSpPr>
        <p:spPr>
          <a:xfrm>
            <a:off x="8275318" y="4160521"/>
            <a:ext cx="1737362" cy="374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algn="ctr" defTabSz="310895">
              <a:defRPr b="1" sz="16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58%</a:t>
            </a:r>
          </a:p>
        </p:txBody>
      </p:sp>
      <p:sp>
        <p:nvSpPr>
          <p:cNvPr id="100" name="TextBox 17"/>
          <p:cNvSpPr txBox="1"/>
          <p:nvPr/>
        </p:nvSpPr>
        <p:spPr>
          <a:xfrm>
            <a:off x="960119" y="5166360"/>
            <a:ext cx="4663442" cy="320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Асанакунов А.А.  •  ИС23-01  •  2026</a:t>
            </a:r>
          </a:p>
        </p:txBody>
      </p:sp>
      <p:pic>
        <p:nvPicPr>
          <p:cNvPr id="101" name="Снимок экрана 2026-03-25 в 17.29.33.png" descr="Снимок экрана 2026-03-25 в 17.29.33.png"/>
          <p:cNvPicPr>
            <a:picLocks noChangeAspect="1"/>
          </p:cNvPicPr>
          <p:nvPr/>
        </p:nvPicPr>
        <p:blipFill>
          <a:blip r:embed="rId2">
            <a:extLst/>
          </a:blip>
          <a:srcRect l="5325" t="2866" r="6079" b="5268"/>
          <a:stretch>
            <a:fillRect/>
          </a:stretch>
        </p:blipFill>
        <p:spPr>
          <a:xfrm>
            <a:off x="8182089" y="1995824"/>
            <a:ext cx="2115265" cy="2683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1" h="21564" fill="norm" stroke="1" extrusionOk="0">
                <a:moveTo>
                  <a:pt x="10434" y="10"/>
                </a:moveTo>
                <a:cubicBezTo>
                  <a:pt x="9967" y="-33"/>
                  <a:pt x="8783" y="66"/>
                  <a:pt x="7934" y="221"/>
                </a:cubicBezTo>
                <a:cubicBezTo>
                  <a:pt x="5975" y="576"/>
                  <a:pt x="4084" y="1556"/>
                  <a:pt x="2612" y="2979"/>
                </a:cubicBezTo>
                <a:cubicBezTo>
                  <a:pt x="1977" y="3592"/>
                  <a:pt x="1195" y="4751"/>
                  <a:pt x="892" y="5528"/>
                </a:cubicBezTo>
                <a:cubicBezTo>
                  <a:pt x="696" y="6031"/>
                  <a:pt x="514" y="6674"/>
                  <a:pt x="420" y="7186"/>
                </a:cubicBezTo>
                <a:cubicBezTo>
                  <a:pt x="361" y="7509"/>
                  <a:pt x="282" y="7923"/>
                  <a:pt x="246" y="8105"/>
                </a:cubicBezTo>
                <a:cubicBezTo>
                  <a:pt x="138" y="8657"/>
                  <a:pt x="0" y="10086"/>
                  <a:pt x="0" y="10656"/>
                </a:cubicBezTo>
                <a:cubicBezTo>
                  <a:pt x="0" y="11635"/>
                  <a:pt x="203" y="13089"/>
                  <a:pt x="485" y="14126"/>
                </a:cubicBezTo>
                <a:cubicBezTo>
                  <a:pt x="838" y="15427"/>
                  <a:pt x="1553" y="16918"/>
                  <a:pt x="2265" y="17836"/>
                </a:cubicBezTo>
                <a:cubicBezTo>
                  <a:pt x="2422" y="18038"/>
                  <a:pt x="2678" y="18366"/>
                  <a:pt x="2835" y="18566"/>
                </a:cubicBezTo>
                <a:cubicBezTo>
                  <a:pt x="3193" y="19024"/>
                  <a:pt x="4184" y="19851"/>
                  <a:pt x="4849" y="20247"/>
                </a:cubicBezTo>
                <a:cubicBezTo>
                  <a:pt x="6121" y="21004"/>
                  <a:pt x="7425" y="21426"/>
                  <a:pt x="8786" y="21523"/>
                </a:cubicBezTo>
                <a:cubicBezTo>
                  <a:pt x="9148" y="21549"/>
                  <a:pt x="9481" y="21564"/>
                  <a:pt x="9796" y="21564"/>
                </a:cubicBezTo>
                <a:cubicBezTo>
                  <a:pt x="10741" y="21567"/>
                  <a:pt x="11515" y="21453"/>
                  <a:pt x="12340" y="21204"/>
                </a:cubicBezTo>
                <a:cubicBezTo>
                  <a:pt x="13965" y="20714"/>
                  <a:pt x="15597" y="19740"/>
                  <a:pt x="16975" y="18442"/>
                </a:cubicBezTo>
                <a:cubicBezTo>
                  <a:pt x="17464" y="17981"/>
                  <a:pt x="18671" y="16641"/>
                  <a:pt x="18671" y="16557"/>
                </a:cubicBezTo>
                <a:cubicBezTo>
                  <a:pt x="18671" y="16545"/>
                  <a:pt x="18805" y="16345"/>
                  <a:pt x="18970" y="16110"/>
                </a:cubicBezTo>
                <a:cubicBezTo>
                  <a:pt x="20087" y="14519"/>
                  <a:pt x="20878" y="12508"/>
                  <a:pt x="21279" y="10248"/>
                </a:cubicBezTo>
                <a:cubicBezTo>
                  <a:pt x="21331" y="9954"/>
                  <a:pt x="21409" y="9536"/>
                  <a:pt x="21449" y="9320"/>
                </a:cubicBezTo>
                <a:cubicBezTo>
                  <a:pt x="21600" y="8502"/>
                  <a:pt x="21503" y="7019"/>
                  <a:pt x="21251" y="6258"/>
                </a:cubicBezTo>
                <a:cubicBezTo>
                  <a:pt x="20953" y="5358"/>
                  <a:pt x="20584" y="4618"/>
                  <a:pt x="20092" y="3943"/>
                </a:cubicBezTo>
                <a:cubicBezTo>
                  <a:pt x="19525" y="3164"/>
                  <a:pt x="18380" y="2144"/>
                  <a:pt x="17496" y="1633"/>
                </a:cubicBezTo>
                <a:cubicBezTo>
                  <a:pt x="16447" y="1026"/>
                  <a:pt x="14891" y="507"/>
                  <a:pt x="13696" y="370"/>
                </a:cubicBezTo>
                <a:cubicBezTo>
                  <a:pt x="12399" y="220"/>
                  <a:pt x="10743" y="39"/>
                  <a:pt x="10434" y="1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02" name="Разработка веб-приложения для учёта потребления воды"/>
          <p:cNvSpPr txBox="1"/>
          <p:nvPr/>
        </p:nvSpPr>
        <p:spPr>
          <a:xfrm>
            <a:off x="931794" y="1409943"/>
            <a:ext cx="5495813" cy="955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500"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Разработка веб-приложения для учёта потребления воды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Oval 1"/>
          <p:cNvSpPr/>
          <p:nvPr/>
        </p:nvSpPr>
        <p:spPr>
          <a:xfrm>
            <a:off x="-274322" y="-137162"/>
            <a:ext cx="2926084" cy="2011684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6EC4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TextBox 3"/>
          <p:cNvSpPr txBox="1"/>
          <p:nvPr/>
        </p:nvSpPr>
        <p:spPr>
          <a:xfrm>
            <a:off x="777238" y="502920"/>
            <a:ext cx="5029203" cy="51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b="1" sz="24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Цель, задачи, объект</a:t>
            </a:r>
          </a:p>
        </p:txBody>
      </p:sp>
      <p:grpSp>
        <p:nvGrpSpPr>
          <p:cNvPr id="109" name="Rounded Rectangle 5"/>
          <p:cNvGrpSpPr/>
          <p:nvPr/>
        </p:nvGrpSpPr>
        <p:grpSpPr>
          <a:xfrm>
            <a:off x="731518" y="1691638"/>
            <a:ext cx="3794764" cy="4389125"/>
            <a:chOff x="0" y="0"/>
            <a:chExt cx="3794762" cy="4389123"/>
          </a:xfrm>
        </p:grpSpPr>
        <p:sp>
          <p:nvSpPr>
            <p:cNvPr id="107" name="Закругленный прямоугольник"/>
            <p:cNvSpPr/>
            <p:nvPr/>
          </p:nvSpPr>
          <p:spPr>
            <a:xfrm>
              <a:off x="-1" y="-1"/>
              <a:ext cx="3794764" cy="4389125"/>
            </a:xfrm>
            <a:prstGeom prst="roundRect">
              <a:avLst>
                <a:gd name="adj" fmla="val 16667"/>
              </a:avLst>
            </a:prstGeom>
            <a:solidFill>
              <a:srgbClr val="DAF2FF"/>
            </a:solidFill>
            <a:ln w="9525" cap="flat">
              <a:solidFill>
                <a:srgbClr val="FFDBE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08" name="Цель…"/>
            <p:cNvSpPr txBox="1"/>
            <p:nvPr/>
          </p:nvSpPr>
          <p:spPr>
            <a:xfrm>
              <a:off x="322087" y="1344930"/>
              <a:ext cx="3175987" cy="17805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Цель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Разработать веб-приложение для учёта потребления воды.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Сделать интерфейс простым, понятным и удобным для пользователя.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Обеспечить хранение данных без использования базы данных.</a:t>
              </a:r>
            </a:p>
          </p:txBody>
        </p:sp>
      </p:grpSp>
      <p:grpSp>
        <p:nvGrpSpPr>
          <p:cNvPr id="112" name="Rounded Rectangle 6"/>
          <p:cNvGrpSpPr/>
          <p:nvPr/>
        </p:nvGrpSpPr>
        <p:grpSpPr>
          <a:xfrm>
            <a:off x="4681728" y="1691638"/>
            <a:ext cx="3246123" cy="4389125"/>
            <a:chOff x="0" y="0"/>
            <a:chExt cx="3246122" cy="4389123"/>
          </a:xfrm>
        </p:grpSpPr>
        <p:sp>
          <p:nvSpPr>
            <p:cNvPr id="110" name="Закругленный прямоугольник"/>
            <p:cNvSpPr/>
            <p:nvPr/>
          </p:nvSpPr>
          <p:spPr>
            <a:xfrm>
              <a:off x="0" y="-1"/>
              <a:ext cx="3246123" cy="438912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FFDBE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11" name="Задачи…"/>
            <p:cNvSpPr txBox="1"/>
            <p:nvPr/>
          </p:nvSpPr>
          <p:spPr>
            <a:xfrm>
              <a:off x="295305" y="1116330"/>
              <a:ext cx="2680911" cy="22377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Задачи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Изучить предметную область.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Проанализировать аналоги.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Реализовать регистрацию и вход.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Сделать добавление и удаление записей.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Организовать хранение в JSON и протестировать систему.</a:t>
              </a:r>
            </a:p>
          </p:txBody>
        </p:sp>
      </p:grpSp>
      <p:grpSp>
        <p:nvGrpSpPr>
          <p:cNvPr id="115" name="Rounded Rectangle 7"/>
          <p:cNvGrpSpPr/>
          <p:nvPr/>
        </p:nvGrpSpPr>
        <p:grpSpPr>
          <a:xfrm>
            <a:off x="8092440" y="1691638"/>
            <a:ext cx="3337562" cy="4389125"/>
            <a:chOff x="0" y="0"/>
            <a:chExt cx="3337561" cy="4389123"/>
          </a:xfrm>
        </p:grpSpPr>
        <p:sp>
          <p:nvSpPr>
            <p:cNvPr id="113" name="Закругленный прямоугольник"/>
            <p:cNvSpPr/>
            <p:nvPr/>
          </p:nvSpPr>
          <p:spPr>
            <a:xfrm>
              <a:off x="-1" y="-1"/>
              <a:ext cx="3337562" cy="4389125"/>
            </a:xfrm>
            <a:prstGeom prst="roundRect">
              <a:avLst>
                <a:gd name="adj" fmla="val 16667"/>
              </a:avLst>
            </a:prstGeom>
            <a:solidFill>
              <a:srgbClr val="FFF5F7"/>
            </a:solidFill>
            <a:ln w="9525" cap="flat">
              <a:solidFill>
                <a:srgbClr val="FFDBE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14" name="Объект и предмет…"/>
            <p:cNvSpPr txBox="1"/>
            <p:nvPr/>
          </p:nvSpPr>
          <p:spPr>
            <a:xfrm>
              <a:off x="299768" y="1230630"/>
              <a:ext cx="2763424" cy="2009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Объект и предмет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Объект: процесс отслеживания питьевого режима.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Предмет: веб-приложение для автоматизации учёта выпитой воды.</a:t>
              </a: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Результат: рабочий учебный сервис с локальным запуском.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Oval 1"/>
          <p:cNvSpPr/>
          <p:nvPr/>
        </p:nvSpPr>
        <p:spPr>
          <a:xfrm>
            <a:off x="-274322" y="-137162"/>
            <a:ext cx="2926084" cy="2011684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6EC4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TextBox 3"/>
          <p:cNvSpPr txBox="1"/>
          <p:nvPr/>
        </p:nvSpPr>
        <p:spPr>
          <a:xfrm>
            <a:off x="777239" y="502920"/>
            <a:ext cx="5577842" cy="51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b="1" sz="24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Практическая значимость</a:t>
            </a:r>
          </a:p>
        </p:txBody>
      </p:sp>
      <p:grpSp>
        <p:nvGrpSpPr>
          <p:cNvPr id="122" name="Rounded Rectangle 5"/>
          <p:cNvGrpSpPr/>
          <p:nvPr/>
        </p:nvGrpSpPr>
        <p:grpSpPr>
          <a:xfrm>
            <a:off x="731519" y="1828800"/>
            <a:ext cx="2834642" cy="1600200"/>
            <a:chOff x="0" y="0"/>
            <a:chExt cx="2834641" cy="1600200"/>
          </a:xfrm>
        </p:grpSpPr>
        <p:sp>
          <p:nvSpPr>
            <p:cNvPr id="120" name="Закругленный прямоугольник"/>
            <p:cNvSpPr/>
            <p:nvPr/>
          </p:nvSpPr>
          <p:spPr>
            <a:xfrm>
              <a:off x="0" y="0"/>
              <a:ext cx="2834642" cy="1600200"/>
            </a:xfrm>
            <a:prstGeom prst="roundRect">
              <a:avLst>
                <a:gd name="adj" fmla="val 16667"/>
              </a:avLst>
            </a:prstGeom>
            <a:solidFill>
              <a:srgbClr val="DAF2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21" name="Контроль привычки…"/>
            <p:cNvSpPr txBox="1"/>
            <p:nvPr/>
          </p:nvSpPr>
          <p:spPr>
            <a:xfrm>
              <a:off x="123835" y="303528"/>
              <a:ext cx="2586973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7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Контроль привычки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Пользователь фиксирует объём выпитой воды и видит прогресс по цели.</a:t>
              </a:r>
            </a:p>
          </p:txBody>
        </p:sp>
      </p:grpSp>
      <p:grpSp>
        <p:nvGrpSpPr>
          <p:cNvPr id="125" name="Rounded Rectangle 6"/>
          <p:cNvGrpSpPr/>
          <p:nvPr/>
        </p:nvGrpSpPr>
        <p:grpSpPr>
          <a:xfrm>
            <a:off x="4069079" y="1828800"/>
            <a:ext cx="2834643" cy="1600200"/>
            <a:chOff x="0" y="0"/>
            <a:chExt cx="2834641" cy="1600200"/>
          </a:xfrm>
        </p:grpSpPr>
        <p:sp>
          <p:nvSpPr>
            <p:cNvPr id="123" name="Закругленный прямоугольник"/>
            <p:cNvSpPr/>
            <p:nvPr/>
          </p:nvSpPr>
          <p:spPr>
            <a:xfrm>
              <a:off x="0" y="0"/>
              <a:ext cx="2834642" cy="1600200"/>
            </a:xfrm>
            <a:prstGeom prst="roundRect">
              <a:avLst>
                <a:gd name="adj" fmla="val 16667"/>
              </a:avLst>
            </a:prstGeom>
            <a:solidFill>
              <a:srgbClr val="FFF4E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24" name="Быстрый ввод…"/>
            <p:cNvSpPr txBox="1"/>
            <p:nvPr/>
          </p:nvSpPr>
          <p:spPr>
            <a:xfrm>
              <a:off x="123835" y="303528"/>
              <a:ext cx="2586973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7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Быстрый ввод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Добавление записи происходит за несколько секунд, без перезагрузки страницы.</a:t>
              </a:r>
            </a:p>
          </p:txBody>
        </p:sp>
      </p:grpSp>
      <p:grpSp>
        <p:nvGrpSpPr>
          <p:cNvPr id="128" name="Rounded Rectangle 7"/>
          <p:cNvGrpSpPr/>
          <p:nvPr/>
        </p:nvGrpSpPr>
        <p:grpSpPr>
          <a:xfrm>
            <a:off x="7406640" y="1828800"/>
            <a:ext cx="2834643" cy="1600200"/>
            <a:chOff x="0" y="0"/>
            <a:chExt cx="2834641" cy="1600200"/>
          </a:xfrm>
        </p:grpSpPr>
        <p:sp>
          <p:nvSpPr>
            <p:cNvPr id="126" name="Закругленный прямоугольник"/>
            <p:cNvSpPr/>
            <p:nvPr/>
          </p:nvSpPr>
          <p:spPr>
            <a:xfrm>
              <a:off x="0" y="0"/>
              <a:ext cx="2834642" cy="1600200"/>
            </a:xfrm>
            <a:prstGeom prst="roundRect">
              <a:avLst>
                <a:gd name="adj" fmla="val 16667"/>
              </a:avLst>
            </a:prstGeom>
            <a:solidFill>
              <a:srgbClr val="FFECF1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27" name="Низкая стоимость…"/>
            <p:cNvSpPr txBox="1"/>
            <p:nvPr/>
          </p:nvSpPr>
          <p:spPr>
            <a:xfrm>
              <a:off x="123835" y="303528"/>
              <a:ext cx="2586973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7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Низкая стоимость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Используются бесплатные технологии и локальный запуск через встроенный PHP-сервер.</a:t>
              </a:r>
            </a:p>
          </p:txBody>
        </p:sp>
      </p:grpSp>
      <p:grpSp>
        <p:nvGrpSpPr>
          <p:cNvPr id="131" name="Rounded Rectangle 8"/>
          <p:cNvGrpSpPr/>
          <p:nvPr/>
        </p:nvGrpSpPr>
        <p:grpSpPr>
          <a:xfrm>
            <a:off x="2377439" y="4160520"/>
            <a:ext cx="2834642" cy="1600201"/>
            <a:chOff x="0" y="0"/>
            <a:chExt cx="2834641" cy="1600200"/>
          </a:xfrm>
        </p:grpSpPr>
        <p:sp>
          <p:nvSpPr>
            <p:cNvPr id="129" name="Закругленный прямоугольник"/>
            <p:cNvSpPr/>
            <p:nvPr/>
          </p:nvSpPr>
          <p:spPr>
            <a:xfrm>
              <a:off x="0" y="0"/>
              <a:ext cx="2834642" cy="160020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30" name="Потенциал развития…"/>
            <p:cNvSpPr txBox="1"/>
            <p:nvPr/>
          </p:nvSpPr>
          <p:spPr>
            <a:xfrm>
              <a:off x="123835" y="303529"/>
              <a:ext cx="2586973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7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Потенциал развития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Приложение можно расширить уведомлениями, графиками и мобильной адаптацией.</a:t>
              </a:r>
            </a:p>
          </p:txBody>
        </p:sp>
      </p:grpSp>
      <p:grpSp>
        <p:nvGrpSpPr>
          <p:cNvPr id="134" name="Rounded Rectangle 9"/>
          <p:cNvGrpSpPr/>
          <p:nvPr/>
        </p:nvGrpSpPr>
        <p:grpSpPr>
          <a:xfrm>
            <a:off x="6492240" y="4160520"/>
            <a:ext cx="2834643" cy="1600201"/>
            <a:chOff x="0" y="0"/>
            <a:chExt cx="2834641" cy="1600200"/>
          </a:xfrm>
        </p:grpSpPr>
        <p:sp>
          <p:nvSpPr>
            <p:cNvPr id="132" name="Закругленный прямоугольник"/>
            <p:cNvSpPr/>
            <p:nvPr/>
          </p:nvSpPr>
          <p:spPr>
            <a:xfrm>
              <a:off x="0" y="0"/>
              <a:ext cx="2834642" cy="1600201"/>
            </a:xfrm>
            <a:prstGeom prst="roundRect">
              <a:avLst>
                <a:gd name="adj" fmla="val 16667"/>
              </a:avLst>
            </a:prstGeom>
            <a:solidFill>
              <a:srgbClr val="DAF2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33" name="Понятная архитектура…"/>
            <p:cNvSpPr txBox="1"/>
            <p:nvPr/>
          </p:nvSpPr>
          <p:spPr>
            <a:xfrm>
              <a:off x="123835" y="303529"/>
              <a:ext cx="2586973" cy="9931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 sz="17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Понятная архитектура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Код разделён на интерфейс, стили, AJAX и серверные PHP-обработчики.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Oval 1"/>
          <p:cNvSpPr/>
          <p:nvPr/>
        </p:nvSpPr>
        <p:spPr>
          <a:xfrm>
            <a:off x="-216818" y="-251462"/>
            <a:ext cx="2926084" cy="2011684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7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6EC4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8" name="TextBox 3"/>
          <p:cNvSpPr txBox="1"/>
          <p:nvPr/>
        </p:nvSpPr>
        <p:spPr>
          <a:xfrm>
            <a:off x="777239" y="502920"/>
            <a:ext cx="5577842" cy="51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b="1" sz="24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Интерфейс приложения</a:t>
            </a:r>
          </a:p>
        </p:txBody>
      </p:sp>
      <p:grpSp>
        <p:nvGrpSpPr>
          <p:cNvPr id="141" name="Rounded Rectangle 18"/>
          <p:cNvGrpSpPr/>
          <p:nvPr/>
        </p:nvGrpSpPr>
        <p:grpSpPr>
          <a:xfrm>
            <a:off x="6860885" y="1484597"/>
            <a:ext cx="3606980" cy="4590702"/>
            <a:chOff x="0" y="0"/>
            <a:chExt cx="3606979" cy="4590700"/>
          </a:xfrm>
        </p:grpSpPr>
        <p:sp>
          <p:nvSpPr>
            <p:cNvPr id="139" name="Закругленный прямоугольник"/>
            <p:cNvSpPr/>
            <p:nvPr/>
          </p:nvSpPr>
          <p:spPr>
            <a:xfrm>
              <a:off x="-1" y="-1"/>
              <a:ext cx="3606980" cy="4590702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FFD5DF"/>
              </a:solidFill>
              <a:prstDash val="solid"/>
              <a:round/>
            </a:ln>
            <a:effectLst>
              <a:outerShdw sx="100000" sy="100000" kx="0" ky="0" algn="b" rotWithShape="0" blurRad="63500" dist="38100" dir="5400000">
                <a:srgbClr val="7A5C66">
                  <a:alpha val="16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40" name="Что видит пользователь…"/>
            <p:cNvSpPr txBox="1"/>
            <p:nvPr/>
          </p:nvSpPr>
          <p:spPr>
            <a:xfrm>
              <a:off x="303272" y="329210"/>
              <a:ext cx="3000435" cy="3932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 b="1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Что видит пользователь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На данном скриншоте представлена стартовая страница веб-приложения. Здесь пользователь может выбрать одну из двух вкладок: вход в систему или регистрация нового аккаунта. В активной вкладке отображается форма входа, где нужно ввести логин и пароль, после чего нажать кнопку «Войти». Интерфейс выполнен в светлых и мягких тонах, без лишних элементов, чтобы пользователю было легко сразу понять, что нужно сделать для начала работы с приложением.</a:t>
              </a:r>
            </a:p>
          </p:txBody>
        </p:sp>
      </p:grpSp>
      <p:sp>
        <p:nvSpPr>
          <p:cNvPr id="142" name="Screenshot Card"/>
          <p:cNvSpPr/>
          <p:nvPr/>
        </p:nvSpPr>
        <p:spPr>
          <a:xfrm>
            <a:off x="1020699" y="1459924"/>
            <a:ext cx="4493094" cy="4640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8D4DD"/>
            </a:solidFill>
          </a:ln>
          <a:effectLst>
            <a:outerShdw sx="100000" sy="100000" kx="0" ky="0" algn="b" rotWithShape="0" blurRad="63500" dist="38100" dir="5400000">
              <a:srgbClr val="6F6271">
                <a:alpha val="14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143" name="Снимок экрана 2026-03-25 в 17.18.56.png" descr="Снимок экрана 2026-03-25 в 17.18.56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1"/>
          <a:stretch>
            <a:fillRect/>
          </a:stretch>
        </p:blipFill>
        <p:spPr>
          <a:xfrm>
            <a:off x="1110825" y="1544549"/>
            <a:ext cx="4312803" cy="44707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944" y="0"/>
                </a:moveTo>
                <a:cubicBezTo>
                  <a:pt x="870" y="0"/>
                  <a:pt x="0" y="840"/>
                  <a:pt x="0" y="1875"/>
                </a:cubicBezTo>
                <a:lnTo>
                  <a:pt x="0" y="19725"/>
                </a:lnTo>
                <a:cubicBezTo>
                  <a:pt x="0" y="20760"/>
                  <a:pt x="870" y="21600"/>
                  <a:pt x="1944" y="21600"/>
                </a:cubicBezTo>
                <a:lnTo>
                  <a:pt x="19656" y="21600"/>
                </a:lnTo>
                <a:cubicBezTo>
                  <a:pt x="20730" y="21600"/>
                  <a:pt x="21600" y="20760"/>
                  <a:pt x="21600" y="19725"/>
                </a:cubicBezTo>
                <a:lnTo>
                  <a:pt x="21600" y="1875"/>
                </a:lnTo>
                <a:cubicBezTo>
                  <a:pt x="21600" y="840"/>
                  <a:pt x="20730" y="0"/>
                  <a:pt x="19656" y="0"/>
                </a:cubicBezTo>
                <a:lnTo>
                  <a:pt x="1944" y="0"/>
                </a:lnTo>
                <a:close/>
              </a:path>
            </a:pathLst>
          </a:custGeom>
          <a:ln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5D6773">
                <a:alpha val="12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Oval 1"/>
          <p:cNvSpPr/>
          <p:nvPr/>
        </p:nvSpPr>
        <p:spPr>
          <a:xfrm>
            <a:off x="-216818" y="-251462"/>
            <a:ext cx="2926084" cy="2011684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grpSp>
        <p:nvGrpSpPr>
          <p:cNvPr id="148" name="TextBox 7"/>
          <p:cNvGrpSpPr/>
          <p:nvPr/>
        </p:nvGrpSpPr>
        <p:grpSpPr>
          <a:xfrm>
            <a:off x="1143000" y="1920238"/>
            <a:ext cx="1737362" cy="182882"/>
            <a:chOff x="0" y="0"/>
            <a:chExt cx="1737361" cy="182881"/>
          </a:xfrm>
        </p:grpSpPr>
        <p:sp>
          <p:nvSpPr>
            <p:cNvPr id="146" name="Закругленный прямоугольник"/>
            <p:cNvSpPr/>
            <p:nvPr/>
          </p:nvSpPr>
          <p:spPr>
            <a:xfrm>
              <a:off x="0" y="0"/>
              <a:ext cx="1737362" cy="182882"/>
            </a:xfrm>
            <a:prstGeom prst="roundRect">
              <a:avLst>
                <a:gd name="adj" fmla="val 9000"/>
              </a:avLst>
            </a:prstGeom>
            <a:noFill/>
            <a:ln w="952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50800" dist="25400" dir="5400000">
                <a:srgbClr val="5D6773">
                  <a:alpha val="12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 defTabSz="182879">
                <a:defRPr b="1" sz="500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147" name="WaterApp"/>
            <p:cNvSpPr txBox="1"/>
            <p:nvPr/>
          </p:nvSpPr>
          <p:spPr>
            <a:xfrm>
              <a:off x="9583" y="9584"/>
              <a:ext cx="1718195" cy="1637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sx="100000" sy="100000" kx="0" ky="0" algn="b" rotWithShape="0" blurRad="50800" dist="25400" dir="5400000">
                <a:srgbClr val="5D6773">
                  <a:alpha val="12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rmAutofit fontScale="100000" lnSpcReduction="0"/>
            </a:bodyPr>
            <a:lstStyle>
              <a:lvl1pPr defTabSz="162763">
                <a:defRPr b="1" sz="444">
                  <a:solidFill>
                    <a:srgbClr val="FFFFFF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WaterApp</a:t>
              </a:r>
            </a:p>
          </p:txBody>
        </p:sp>
      </p:grpSp>
      <p:sp>
        <p:nvSpPr>
          <p:cNvPr id="149" name="Screenshot Card"/>
          <p:cNvSpPr/>
          <p:nvPr/>
        </p:nvSpPr>
        <p:spPr>
          <a:xfrm>
            <a:off x="606425" y="159999"/>
            <a:ext cx="8395353" cy="33400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6D6DE"/>
            </a:solidFill>
          </a:ln>
          <a:effectLst>
            <a:outerShdw sx="100000" sy="100000" kx="0" ky="0" algn="b" rotWithShape="0" blurRad="63500" dist="38100" dir="5400000">
              <a:srgbClr val="6F6271">
                <a:alpha val="14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150" name="Снимок экрана 2026-03-25 в 17.17.05.png" descr="Снимок экрана 2026-03-25 в 17.17.05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3"/>
          <a:stretch>
            <a:fillRect/>
          </a:stretch>
        </p:blipFill>
        <p:spPr>
          <a:xfrm>
            <a:off x="691245" y="253802"/>
            <a:ext cx="8225632" cy="31619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47" y="0"/>
                </a:moveTo>
                <a:cubicBezTo>
                  <a:pt x="335" y="0"/>
                  <a:pt x="0" y="870"/>
                  <a:pt x="0" y="1944"/>
                </a:cubicBezTo>
                <a:lnTo>
                  <a:pt x="0" y="19656"/>
                </a:lnTo>
                <a:cubicBezTo>
                  <a:pt x="0" y="20730"/>
                  <a:pt x="335" y="21600"/>
                  <a:pt x="747" y="21600"/>
                </a:cubicBezTo>
                <a:lnTo>
                  <a:pt x="20853" y="21600"/>
                </a:lnTo>
                <a:cubicBezTo>
                  <a:pt x="21265" y="21600"/>
                  <a:pt x="21600" y="20730"/>
                  <a:pt x="21600" y="19656"/>
                </a:cubicBezTo>
                <a:lnTo>
                  <a:pt x="21600" y="1944"/>
                </a:lnTo>
                <a:cubicBezTo>
                  <a:pt x="21600" y="870"/>
                  <a:pt x="21265" y="0"/>
                  <a:pt x="20853" y="0"/>
                </a:cubicBezTo>
                <a:lnTo>
                  <a:pt x="747" y="0"/>
                </a:lnTo>
                <a:close/>
              </a:path>
            </a:pathLst>
          </a:custGeom>
          <a:ln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5D6773">
                <a:alpha val="12000"/>
              </a:srgbClr>
            </a:outerShdw>
          </a:effectLst>
        </p:spPr>
      </p:pic>
      <p:sp>
        <p:nvSpPr>
          <p:cNvPr id="151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6EC4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На этом скриншоте показан основной интерфейс приложения после входа пользователя в систему. В верхней части страницы отображается приветствие пользователя, серия дней подряд сколько пользователь записывал и кнопка выхода. Ниже расположены вкладки навигац"/>
          <p:cNvSpPr/>
          <p:nvPr/>
        </p:nvSpPr>
        <p:spPr>
          <a:xfrm>
            <a:off x="699223" y="3944075"/>
            <a:ext cx="8209757" cy="1986283"/>
          </a:xfrm>
          <a:prstGeom prst="roundRect">
            <a:avLst>
              <a:gd name="adj" fmla="val 9591"/>
            </a:avLst>
          </a:prstGeom>
          <a:solidFill>
            <a:srgbClr val="FFFFFF"/>
          </a:solidFill>
          <a:ln w="12700">
            <a:solidFill>
              <a:srgbClr val="F1D7DE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 algn="ctr">
              <a:defRPr sz="13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На этом скриншоте показан основной интерфейс приложения после входа пользователя в систему. В верхней части страницы отображается приветствие пользователя, серия дней подряд сколько пользователь записывал и кнопка выхода. Ниже расположены вкладки навигации, а в основной части экрана находятся блок установки дневной цели и блок прогресса за текущий день. Пользователь может задать нужное количество воды в миллилитрах, сохранить цель и отслеживать её выполнение с помощью визуального индикатора в виде капли. Такой интерфейс делает работу с приложением наглядной, удобной и понятной.</a:t>
            </a:r>
          </a:p>
        </p:txBody>
      </p:sp>
      <p:sp>
        <p:nvSpPr>
          <p:cNvPr id="153" name="🐈"/>
          <p:cNvSpPr/>
          <p:nvPr/>
        </p:nvSpPr>
        <p:spPr>
          <a:xfrm>
            <a:off x="10020449" y="871598"/>
            <a:ext cx="127000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9E9E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00">
                <a:solidFill>
                  <a:srgbClr val="FFFFFF"/>
                </a:solidFill>
              </a:defRPr>
            </a:pPr>
            <a:r>
              <a:t>      </a:t>
            </a:r>
            <a:r>
              <a:rPr sz="3500"/>
              <a:t> 🐈</a:t>
            </a:r>
          </a:p>
        </p:txBody>
      </p:sp>
      <p:sp>
        <p:nvSpPr>
          <p:cNvPr id="154" name="Так же на главном экране бегает котик"/>
          <p:cNvSpPr/>
          <p:nvPr/>
        </p:nvSpPr>
        <p:spPr>
          <a:xfrm>
            <a:off x="10062824" y="2380464"/>
            <a:ext cx="1282701" cy="1282701"/>
          </a:xfrm>
          <a:prstGeom prst="roundRect">
            <a:avLst>
              <a:gd name="adj" fmla="val 8336"/>
            </a:avLst>
          </a:prstGeom>
          <a:solidFill>
            <a:srgbClr val="FFFFFF"/>
          </a:solidFill>
          <a:ln w="12700">
            <a:solidFill>
              <a:srgbClr val="F1D7DE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 algn="ctr">
              <a:defRPr sz="13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Так же на главном экране бегает котик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Oval 1"/>
          <p:cNvSpPr/>
          <p:nvPr/>
        </p:nvSpPr>
        <p:spPr>
          <a:xfrm>
            <a:off x="-274322" y="-137162"/>
            <a:ext cx="2926084" cy="2011684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6EC4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" name="TextBox 3"/>
          <p:cNvSpPr txBox="1"/>
          <p:nvPr/>
        </p:nvSpPr>
        <p:spPr>
          <a:xfrm>
            <a:off x="777238" y="502920"/>
            <a:ext cx="5212083" cy="51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b="1" sz="24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Что хранится в JSON</a:t>
            </a:r>
          </a:p>
        </p:txBody>
      </p:sp>
      <p:sp>
        <p:nvSpPr>
          <p:cNvPr id="159" name="TextBox 4"/>
          <p:cNvSpPr txBox="1"/>
          <p:nvPr/>
        </p:nvSpPr>
        <p:spPr>
          <a:xfrm>
            <a:off x="777238" y="1078991"/>
            <a:ext cx="6217923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Хранение в JSON было выбрано как простое и недорогое решение для учебного проекта без отдельной СУБД.</a:t>
            </a:r>
          </a:p>
        </p:txBody>
      </p:sp>
      <p:sp>
        <p:nvSpPr>
          <p:cNvPr id="160" name="Rounded Rectangle 5"/>
          <p:cNvSpPr/>
          <p:nvPr/>
        </p:nvSpPr>
        <p:spPr>
          <a:xfrm>
            <a:off x="822960" y="1783078"/>
            <a:ext cx="5120641" cy="4389122"/>
          </a:xfrm>
          <a:prstGeom prst="roundRect">
            <a:avLst>
              <a:gd name="adj" fmla="val 16667"/>
            </a:avLst>
          </a:prstGeom>
          <a:solidFill>
            <a:srgbClr val="1C2C4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" name="TextBox 6"/>
          <p:cNvSpPr txBox="1"/>
          <p:nvPr/>
        </p:nvSpPr>
        <p:spPr>
          <a:xfrm>
            <a:off x="1097280" y="1920239"/>
            <a:ext cx="1371602" cy="285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288036">
              <a:defRPr b="1" sz="11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users.json</a:t>
            </a:r>
          </a:p>
        </p:txBody>
      </p:sp>
      <p:sp>
        <p:nvSpPr>
          <p:cNvPr id="162" name="TextBox 7"/>
          <p:cNvSpPr txBox="1"/>
          <p:nvPr/>
        </p:nvSpPr>
        <p:spPr>
          <a:xfrm>
            <a:off x="1097280" y="2331721"/>
            <a:ext cx="4297680" cy="320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>
              <a:defRPr sz="1600">
                <a:solidFill>
                  <a:srgbClr val="DAF2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{</a:t>
            </a:r>
          </a:p>
          <a:p>
            <a:pPr>
              <a:defRPr sz="1600">
                <a:solidFill>
                  <a:srgbClr val="DAF2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"id": "user_001",</a:t>
            </a:r>
          </a:p>
          <a:p>
            <a:pPr>
              <a:defRPr sz="1600">
                <a:solidFill>
                  <a:srgbClr val="DAF2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"username": "vitalya",</a:t>
            </a:r>
          </a:p>
          <a:p>
            <a:pPr>
              <a:defRPr sz="1600">
                <a:solidFill>
                  <a:srgbClr val="DAF2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"password": "bcrypt_hash",</a:t>
            </a:r>
          </a:p>
          <a:p>
            <a:pPr>
              <a:defRPr sz="1600">
                <a:solidFill>
                  <a:srgbClr val="DAF2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"goal": 4000,</a:t>
            </a:r>
          </a:p>
          <a:p>
            <a:pPr>
              <a:defRPr sz="1600">
                <a:solidFill>
                  <a:srgbClr val="DAF2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"role": "user"</a:t>
            </a:r>
          </a:p>
          <a:p>
            <a:pPr>
              <a:defRPr sz="1600">
                <a:solidFill>
                  <a:srgbClr val="DAF2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  <p:sp>
        <p:nvSpPr>
          <p:cNvPr id="163" name="Rounded Rectangle 8"/>
          <p:cNvSpPr/>
          <p:nvPr/>
        </p:nvSpPr>
        <p:spPr>
          <a:xfrm>
            <a:off x="6236208" y="1783078"/>
            <a:ext cx="5120642" cy="4389122"/>
          </a:xfrm>
          <a:prstGeom prst="roundRect">
            <a:avLst>
              <a:gd name="adj" fmla="val 16667"/>
            </a:avLst>
          </a:prstGeom>
          <a:solidFill>
            <a:srgbClr val="273C5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TextBox 9"/>
          <p:cNvSpPr txBox="1"/>
          <p:nvPr/>
        </p:nvSpPr>
        <p:spPr>
          <a:xfrm>
            <a:off x="6519671" y="1920239"/>
            <a:ext cx="1463042" cy="2851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288036">
              <a:defRPr b="1" sz="11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water.json</a:t>
            </a:r>
          </a:p>
        </p:txBody>
      </p:sp>
      <p:sp>
        <p:nvSpPr>
          <p:cNvPr id="165" name="TextBox 10"/>
          <p:cNvSpPr txBox="1"/>
          <p:nvPr/>
        </p:nvSpPr>
        <p:spPr>
          <a:xfrm>
            <a:off x="6519671" y="2331721"/>
            <a:ext cx="4297682" cy="320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[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{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"id": "entry_001",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"user_id": "user_001",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"date": "2026-03-24",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"time": "14:10",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"amount": 333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}</a:t>
            </a:r>
          </a:p>
          <a:p>
            <a:pPr>
              <a:defRPr sz="1600">
                <a:solidFill>
                  <a:srgbClr val="E0F0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]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Oval 1"/>
          <p:cNvSpPr/>
          <p:nvPr/>
        </p:nvSpPr>
        <p:spPr>
          <a:xfrm>
            <a:off x="-274322" y="-137162"/>
            <a:ext cx="2926084" cy="2011684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6EC4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" name="TextBox 3"/>
          <p:cNvSpPr txBox="1"/>
          <p:nvPr/>
        </p:nvSpPr>
        <p:spPr>
          <a:xfrm>
            <a:off x="777238" y="502920"/>
            <a:ext cx="5212083" cy="5137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b="1" sz="24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Экономическая часть</a:t>
            </a:r>
          </a:p>
        </p:txBody>
      </p:sp>
      <p:sp>
        <p:nvSpPr>
          <p:cNvPr id="170" name="TextBox 4"/>
          <p:cNvSpPr txBox="1"/>
          <p:nvPr/>
        </p:nvSpPr>
        <p:spPr>
          <a:xfrm>
            <a:off x="777239" y="1078991"/>
            <a:ext cx="6492241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Главная идея экономической части: проект реализован без лишних затрат и без покупки платного ПО.</a:t>
            </a:r>
          </a:p>
        </p:txBody>
      </p:sp>
      <p:sp>
        <p:nvSpPr>
          <p:cNvPr id="171" name="Rounded Rectangle 5"/>
          <p:cNvSpPr/>
          <p:nvPr/>
        </p:nvSpPr>
        <p:spPr>
          <a:xfrm>
            <a:off x="868680" y="1783078"/>
            <a:ext cx="3063240" cy="42976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" name="TextBox 6"/>
          <p:cNvSpPr txBox="1"/>
          <p:nvPr/>
        </p:nvSpPr>
        <p:spPr>
          <a:xfrm>
            <a:off x="1143000" y="1993393"/>
            <a:ext cx="2286000" cy="36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292606">
              <a:defRPr b="1" sz="11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Использованные технологии</a:t>
            </a:r>
          </a:p>
        </p:txBody>
      </p:sp>
      <p:grpSp>
        <p:nvGrpSpPr>
          <p:cNvPr id="175" name="Rounded Rectangle 7"/>
          <p:cNvGrpSpPr/>
          <p:nvPr/>
        </p:nvGrpSpPr>
        <p:grpSpPr>
          <a:xfrm>
            <a:off x="1097280" y="2560320"/>
            <a:ext cx="1143001" cy="320043"/>
            <a:chOff x="0" y="0"/>
            <a:chExt cx="1143000" cy="320042"/>
          </a:xfrm>
        </p:grpSpPr>
        <p:sp>
          <p:nvSpPr>
            <p:cNvPr id="173" name="Закругленный прямоугольник"/>
            <p:cNvSpPr/>
            <p:nvPr/>
          </p:nvSpPr>
          <p:spPr>
            <a:xfrm>
              <a:off x="0" y="-1"/>
              <a:ext cx="1143001" cy="320044"/>
            </a:xfrm>
            <a:prstGeom prst="roundRect">
              <a:avLst>
                <a:gd name="adj" fmla="val 16667"/>
              </a:avLst>
            </a:prstGeom>
            <a:solidFill>
              <a:srgbClr val="DAF2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4" name="HTML"/>
            <p:cNvSpPr txBox="1"/>
            <p:nvPr/>
          </p:nvSpPr>
          <p:spPr>
            <a:xfrm>
              <a:off x="61342" y="12700"/>
              <a:ext cx="1020317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HTML</a:t>
              </a:r>
            </a:p>
          </p:txBody>
        </p:sp>
      </p:grpSp>
      <p:grpSp>
        <p:nvGrpSpPr>
          <p:cNvPr id="178" name="Rounded Rectangle 8"/>
          <p:cNvGrpSpPr/>
          <p:nvPr/>
        </p:nvGrpSpPr>
        <p:grpSpPr>
          <a:xfrm>
            <a:off x="2423160" y="2560320"/>
            <a:ext cx="1234441" cy="345646"/>
            <a:chOff x="0" y="0"/>
            <a:chExt cx="1234440" cy="345644"/>
          </a:xfrm>
        </p:grpSpPr>
        <p:sp>
          <p:nvSpPr>
            <p:cNvPr id="176" name="Закругленный прямоугольник"/>
            <p:cNvSpPr/>
            <p:nvPr/>
          </p:nvSpPr>
          <p:spPr>
            <a:xfrm>
              <a:off x="0" y="0"/>
              <a:ext cx="1234441" cy="345645"/>
            </a:xfrm>
            <a:prstGeom prst="roundRect">
              <a:avLst>
                <a:gd name="adj" fmla="val 16667"/>
              </a:avLst>
            </a:prstGeom>
            <a:solidFill>
              <a:srgbClr val="FFEFE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7" name="CSS"/>
            <p:cNvSpPr txBox="1"/>
            <p:nvPr/>
          </p:nvSpPr>
          <p:spPr>
            <a:xfrm>
              <a:off x="66250" y="25502"/>
              <a:ext cx="1101941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CSS</a:t>
              </a:r>
            </a:p>
          </p:txBody>
        </p:sp>
      </p:grpSp>
      <p:grpSp>
        <p:nvGrpSpPr>
          <p:cNvPr id="181" name="Rounded Rectangle 9"/>
          <p:cNvGrpSpPr/>
          <p:nvPr/>
        </p:nvGrpSpPr>
        <p:grpSpPr>
          <a:xfrm>
            <a:off x="1097280" y="3127248"/>
            <a:ext cx="1143001" cy="320043"/>
            <a:chOff x="0" y="0"/>
            <a:chExt cx="1143000" cy="320042"/>
          </a:xfrm>
        </p:grpSpPr>
        <p:sp>
          <p:nvSpPr>
            <p:cNvPr id="179" name="Закругленный прямоугольник"/>
            <p:cNvSpPr/>
            <p:nvPr/>
          </p:nvSpPr>
          <p:spPr>
            <a:xfrm>
              <a:off x="0" y="-1"/>
              <a:ext cx="1143001" cy="320044"/>
            </a:xfrm>
            <a:prstGeom prst="roundRect">
              <a:avLst>
                <a:gd name="adj" fmla="val 16667"/>
              </a:avLst>
            </a:prstGeom>
            <a:solidFill>
              <a:srgbClr val="DAF2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80" name="JavaScript"/>
            <p:cNvSpPr txBox="1"/>
            <p:nvPr/>
          </p:nvSpPr>
          <p:spPr>
            <a:xfrm>
              <a:off x="61342" y="12700"/>
              <a:ext cx="1020317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JavaScript</a:t>
              </a:r>
            </a:p>
          </p:txBody>
        </p:sp>
      </p:grpSp>
      <p:grpSp>
        <p:nvGrpSpPr>
          <p:cNvPr id="184" name="Rounded Rectangle 10"/>
          <p:cNvGrpSpPr/>
          <p:nvPr/>
        </p:nvGrpSpPr>
        <p:grpSpPr>
          <a:xfrm>
            <a:off x="2423160" y="3127248"/>
            <a:ext cx="1234441" cy="345646"/>
            <a:chOff x="0" y="0"/>
            <a:chExt cx="1234440" cy="345644"/>
          </a:xfrm>
        </p:grpSpPr>
        <p:sp>
          <p:nvSpPr>
            <p:cNvPr id="182" name="Закругленный прямоугольник"/>
            <p:cNvSpPr/>
            <p:nvPr/>
          </p:nvSpPr>
          <p:spPr>
            <a:xfrm>
              <a:off x="0" y="0"/>
              <a:ext cx="1234441" cy="345645"/>
            </a:xfrm>
            <a:prstGeom prst="roundRect">
              <a:avLst>
                <a:gd name="adj" fmla="val 16667"/>
              </a:avLst>
            </a:prstGeom>
            <a:solidFill>
              <a:srgbClr val="FFEFE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83" name="PHP"/>
            <p:cNvSpPr txBox="1"/>
            <p:nvPr/>
          </p:nvSpPr>
          <p:spPr>
            <a:xfrm>
              <a:off x="66250" y="25502"/>
              <a:ext cx="1101941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PHP</a:t>
              </a:r>
            </a:p>
          </p:txBody>
        </p:sp>
      </p:grpSp>
      <p:grpSp>
        <p:nvGrpSpPr>
          <p:cNvPr id="187" name="Rounded Rectangle 11"/>
          <p:cNvGrpSpPr/>
          <p:nvPr/>
        </p:nvGrpSpPr>
        <p:grpSpPr>
          <a:xfrm>
            <a:off x="1097280" y="3694176"/>
            <a:ext cx="1143001" cy="320043"/>
            <a:chOff x="0" y="0"/>
            <a:chExt cx="1143000" cy="320042"/>
          </a:xfrm>
        </p:grpSpPr>
        <p:sp>
          <p:nvSpPr>
            <p:cNvPr id="185" name="Закругленный прямоугольник"/>
            <p:cNvSpPr/>
            <p:nvPr/>
          </p:nvSpPr>
          <p:spPr>
            <a:xfrm>
              <a:off x="0" y="-1"/>
              <a:ext cx="1143001" cy="320044"/>
            </a:xfrm>
            <a:prstGeom prst="roundRect">
              <a:avLst>
                <a:gd name="adj" fmla="val 16667"/>
              </a:avLst>
            </a:prstGeom>
            <a:solidFill>
              <a:srgbClr val="DAF2F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86" name="JSON"/>
            <p:cNvSpPr txBox="1"/>
            <p:nvPr/>
          </p:nvSpPr>
          <p:spPr>
            <a:xfrm>
              <a:off x="61342" y="12700"/>
              <a:ext cx="1020317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JSON</a:t>
              </a:r>
            </a:p>
          </p:txBody>
        </p:sp>
      </p:grpSp>
      <p:grpSp>
        <p:nvGrpSpPr>
          <p:cNvPr id="190" name="Rounded Rectangle 12"/>
          <p:cNvGrpSpPr/>
          <p:nvPr/>
        </p:nvGrpSpPr>
        <p:grpSpPr>
          <a:xfrm>
            <a:off x="2423160" y="3633319"/>
            <a:ext cx="1234441" cy="497839"/>
            <a:chOff x="0" y="0"/>
            <a:chExt cx="1234440" cy="497838"/>
          </a:xfrm>
        </p:grpSpPr>
        <p:sp>
          <p:nvSpPr>
            <p:cNvPr id="188" name="Закругленный прямоугольник"/>
            <p:cNvSpPr/>
            <p:nvPr/>
          </p:nvSpPr>
          <p:spPr>
            <a:xfrm>
              <a:off x="0" y="76095"/>
              <a:ext cx="1234441" cy="345647"/>
            </a:xfrm>
            <a:prstGeom prst="roundRect">
              <a:avLst>
                <a:gd name="adj" fmla="val 16667"/>
              </a:avLst>
            </a:prstGeom>
            <a:solidFill>
              <a:srgbClr val="FFEFE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89" name="Встроенный PHP-сервер"/>
            <p:cNvSpPr txBox="1"/>
            <p:nvPr/>
          </p:nvSpPr>
          <p:spPr>
            <a:xfrm>
              <a:off x="66250" y="0"/>
              <a:ext cx="1101941" cy="497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Встроенный PHP-сервер</a:t>
              </a:r>
            </a:p>
          </p:txBody>
        </p:sp>
      </p:grpSp>
      <p:sp>
        <p:nvSpPr>
          <p:cNvPr id="191" name="Rounded Rectangle 13"/>
          <p:cNvSpPr/>
          <p:nvPr/>
        </p:nvSpPr>
        <p:spPr>
          <a:xfrm>
            <a:off x="4160520" y="1783078"/>
            <a:ext cx="2743202" cy="4297683"/>
          </a:xfrm>
          <a:prstGeom prst="roundRect">
            <a:avLst>
              <a:gd name="adj" fmla="val 16667"/>
            </a:avLst>
          </a:prstGeom>
          <a:solidFill>
            <a:srgbClr val="FFF5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2" name="TextBox 14"/>
          <p:cNvSpPr txBox="1"/>
          <p:nvPr/>
        </p:nvSpPr>
        <p:spPr>
          <a:xfrm>
            <a:off x="4434840" y="1993393"/>
            <a:ext cx="1920241" cy="365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47472">
              <a:defRPr b="1" sz="13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Почему это выгодно</a:t>
            </a:r>
          </a:p>
        </p:txBody>
      </p:sp>
      <p:sp>
        <p:nvSpPr>
          <p:cNvPr id="193" name="TextBox 15"/>
          <p:cNvSpPr txBox="1"/>
          <p:nvPr/>
        </p:nvSpPr>
        <p:spPr>
          <a:xfrm>
            <a:off x="4434840" y="2560321"/>
            <a:ext cx="1920241" cy="2560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defTabSz="379474"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Не использовалась отдельная база данных.</a:t>
            </a:r>
          </a:p>
          <a:p>
            <a:pPr defTabSz="379474"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Не требовался платный хостинг на этапе разработки.</a:t>
            </a:r>
          </a:p>
          <a:p>
            <a:pPr defTabSz="379474"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Тестирование выполнено локально на MacBook.</a:t>
            </a:r>
          </a:p>
          <a:p>
            <a:pPr defTabSz="379474"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• Все основные инструменты доступны бесплатно.</a:t>
            </a:r>
          </a:p>
        </p:txBody>
      </p:sp>
      <p:sp>
        <p:nvSpPr>
          <p:cNvPr id="194" name="Rounded Rectangle 16"/>
          <p:cNvSpPr/>
          <p:nvPr/>
        </p:nvSpPr>
        <p:spPr>
          <a:xfrm>
            <a:off x="7132318" y="1783078"/>
            <a:ext cx="4160522" cy="42976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5" name="TextBox 17"/>
          <p:cNvSpPr txBox="1"/>
          <p:nvPr/>
        </p:nvSpPr>
        <p:spPr>
          <a:xfrm>
            <a:off x="7406639" y="1993393"/>
            <a:ext cx="3108962" cy="374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416051">
              <a:defRPr b="1" sz="16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Вывод</a:t>
            </a:r>
          </a:p>
        </p:txBody>
      </p:sp>
      <p:sp>
        <p:nvSpPr>
          <p:cNvPr id="196" name="TextBox 18"/>
          <p:cNvSpPr txBox="1"/>
          <p:nvPr/>
        </p:nvSpPr>
        <p:spPr>
          <a:xfrm>
            <a:off x="7406639" y="2560321"/>
            <a:ext cx="3291842" cy="2560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>
              <a:defRPr sz="16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Проект получился малозатратным, потому что использует простую архитектуру и бесплатные веб-технологии. Такой формат особенно подходит для учебной разработки и демонстрации на защите.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A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Oval 1"/>
          <p:cNvSpPr/>
          <p:nvPr/>
        </p:nvSpPr>
        <p:spPr>
          <a:xfrm>
            <a:off x="-274322" y="-137162"/>
            <a:ext cx="2926084" cy="2011684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9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6EC4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TextBox 3"/>
          <p:cNvSpPr txBox="1"/>
          <p:nvPr/>
        </p:nvSpPr>
        <p:spPr>
          <a:xfrm>
            <a:off x="777238" y="502920"/>
            <a:ext cx="6309362" cy="502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52042">
              <a:defRPr b="1" sz="2100">
                <a:solidFill>
                  <a:srgbClr val="1C2C42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Кому полезно и кто может быть заказчиком</a:t>
            </a:r>
          </a:p>
        </p:txBody>
      </p:sp>
      <p:sp>
        <p:nvSpPr>
          <p:cNvPr id="201" name="TextBox 4"/>
          <p:cNvSpPr txBox="1"/>
          <p:nvPr/>
        </p:nvSpPr>
        <p:spPr>
          <a:xfrm>
            <a:off x="777238" y="1078991"/>
            <a:ext cx="6309362" cy="5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97763">
              <a:defRPr sz="1200">
                <a:solidFill>
                  <a:srgbClr val="6D7180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Слайд показывает, что даже учебный проект можно связать с реальными пользователями и потенциальными заказчиками.</a:t>
            </a:r>
          </a:p>
        </p:txBody>
      </p:sp>
      <p:grpSp>
        <p:nvGrpSpPr>
          <p:cNvPr id="204" name="Rounded Rectangle 5"/>
          <p:cNvGrpSpPr/>
          <p:nvPr/>
        </p:nvGrpSpPr>
        <p:grpSpPr>
          <a:xfrm>
            <a:off x="822959" y="1783078"/>
            <a:ext cx="4937762" cy="4434845"/>
            <a:chOff x="0" y="0"/>
            <a:chExt cx="4937761" cy="4434843"/>
          </a:xfrm>
        </p:grpSpPr>
        <p:sp>
          <p:nvSpPr>
            <p:cNvPr id="202" name="Закругленный прямоугольник"/>
            <p:cNvSpPr/>
            <p:nvPr/>
          </p:nvSpPr>
          <p:spPr>
            <a:xfrm>
              <a:off x="-1" y="-1"/>
              <a:ext cx="4937762" cy="4434845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FFDBE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03" name="Кому полезно приложение…"/>
            <p:cNvSpPr txBox="1"/>
            <p:nvPr/>
          </p:nvSpPr>
          <p:spPr>
            <a:xfrm>
              <a:off x="353333" y="1482090"/>
              <a:ext cx="4256495" cy="1551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Кому полезно приложение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Студентам и офисным работникам.</a:t>
              </a: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Людям, следящим за здоровьем.</a:t>
              </a: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Спортсменам и посетителям фитнес-залов.</a:t>
              </a: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Тем, кто хочет выработать привычку пить воду регулярно.</a:t>
              </a:r>
            </a:p>
          </p:txBody>
        </p:sp>
      </p:grpSp>
      <p:grpSp>
        <p:nvGrpSpPr>
          <p:cNvPr id="207" name="Rounded Rectangle 6"/>
          <p:cNvGrpSpPr/>
          <p:nvPr/>
        </p:nvGrpSpPr>
        <p:grpSpPr>
          <a:xfrm>
            <a:off x="5989319" y="1783078"/>
            <a:ext cx="5349244" cy="4434845"/>
            <a:chOff x="0" y="0"/>
            <a:chExt cx="5349242" cy="4434843"/>
          </a:xfrm>
        </p:grpSpPr>
        <p:sp>
          <p:nvSpPr>
            <p:cNvPr id="205" name="Закругленный прямоугольник"/>
            <p:cNvSpPr/>
            <p:nvPr/>
          </p:nvSpPr>
          <p:spPr>
            <a:xfrm>
              <a:off x="-1" y="-1"/>
              <a:ext cx="5349244" cy="4434845"/>
            </a:xfrm>
            <a:prstGeom prst="roundRect">
              <a:avLst>
                <a:gd name="adj" fmla="val 16667"/>
              </a:avLst>
            </a:prstGeom>
            <a:solidFill>
              <a:srgbClr val="FFF5F7"/>
            </a:solidFill>
            <a:ln w="9525" cap="flat">
              <a:solidFill>
                <a:srgbClr val="FFDBE2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</a:p>
          </p:txBody>
        </p:sp>
        <p:sp>
          <p:nvSpPr>
            <p:cNvPr id="206" name="Кто может выступать заказчиком…"/>
            <p:cNvSpPr txBox="1"/>
            <p:nvPr/>
          </p:nvSpPr>
          <p:spPr>
            <a:xfrm>
              <a:off x="353333" y="1482090"/>
              <a:ext cx="4667975" cy="1551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/>
            <a:p>
              <a:pPr algn="ctr">
                <a:defRPr b="1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Кто может выступать заказчиком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Фитнес-клуб или спортивный центр.</a:t>
              </a: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Медицинский центр или клиника.</a:t>
              </a: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Образовательная организация.</a:t>
              </a: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Сервис, связанный со здоровым образом жизни.</a:t>
              </a:r>
            </a:p>
            <a:p>
              <a:pPr>
                <a:defRPr sz="1300">
                  <a:solidFill>
                    <a:srgbClr val="6D7180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pPr>
              <a:r>
                <a:t>Частный заказчик, которому нужен простой трекер воды.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Oval 1"/>
          <p:cNvSpPr/>
          <p:nvPr/>
        </p:nvSpPr>
        <p:spPr>
          <a:xfrm>
            <a:off x="-274322" y="-137162"/>
            <a:ext cx="2926084" cy="2011684"/>
          </a:xfrm>
          <a:prstGeom prst="ellipse">
            <a:avLst/>
          </a:prstGeom>
          <a:solidFill>
            <a:srgbClr val="FFB59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0" name="Oval 2"/>
          <p:cNvSpPr/>
          <p:nvPr/>
        </p:nvSpPr>
        <p:spPr>
          <a:xfrm>
            <a:off x="9601200" y="5120640"/>
            <a:ext cx="3108962" cy="1920241"/>
          </a:xfrm>
          <a:prstGeom prst="ellipse">
            <a:avLst/>
          </a:prstGeom>
          <a:solidFill>
            <a:srgbClr val="FF8DA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1" name="TextBox 3"/>
          <p:cNvSpPr txBox="1"/>
          <p:nvPr/>
        </p:nvSpPr>
        <p:spPr>
          <a:xfrm>
            <a:off x="914400" y="822961"/>
            <a:ext cx="4023360" cy="45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>
              <a:defRPr b="1" sz="1600">
                <a:solidFill>
                  <a:srgbClr val="FF8DA4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ЗАКЛЮЧЕНИЕ</a:t>
            </a:r>
          </a:p>
        </p:txBody>
      </p:sp>
      <p:sp>
        <p:nvSpPr>
          <p:cNvPr id="212" name="TextBox 4"/>
          <p:cNvSpPr txBox="1"/>
          <p:nvPr/>
        </p:nvSpPr>
        <p:spPr>
          <a:xfrm>
            <a:off x="914400" y="1325880"/>
            <a:ext cx="6126480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 defTabSz="356615">
              <a:defRPr b="1" sz="21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Цель работы достигнута: веб-приложение разработано и протестировано.</a:t>
            </a:r>
          </a:p>
        </p:txBody>
      </p:sp>
      <p:sp>
        <p:nvSpPr>
          <p:cNvPr id="213" name="TextBox 5"/>
          <p:cNvSpPr txBox="1"/>
          <p:nvPr/>
        </p:nvSpPr>
        <p:spPr>
          <a:xfrm>
            <a:off x="914400" y="2560321"/>
            <a:ext cx="6126480" cy="2377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>
            <a:lvl1pPr>
              <a:defRPr sz="1700">
                <a:solidFill>
                  <a:srgbClr val="E2E9F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В результате создано приложение для учёта потребления воды с регистрацией, авторизацией, установкой цели, добавлением и удалением записей. Данные сохраняются в JSON-файлах, а интерфейс обновляется без перезагрузки страницы с помощью AJAX. Проект получился простым по коду и удобным для объяснения на защите.</a:t>
            </a:r>
          </a:p>
        </p:txBody>
      </p:sp>
      <p:grpSp>
        <p:nvGrpSpPr>
          <p:cNvPr id="216" name="Rounded Rectangle 6"/>
          <p:cNvGrpSpPr/>
          <p:nvPr/>
        </p:nvGrpSpPr>
        <p:grpSpPr>
          <a:xfrm>
            <a:off x="868680" y="5257800"/>
            <a:ext cx="1965963" cy="384049"/>
            <a:chOff x="0" y="0"/>
            <a:chExt cx="1965961" cy="384048"/>
          </a:xfrm>
        </p:grpSpPr>
        <p:sp>
          <p:nvSpPr>
            <p:cNvPr id="214" name="Закругленный прямоугольник"/>
            <p:cNvSpPr/>
            <p:nvPr/>
          </p:nvSpPr>
          <p:spPr>
            <a:xfrm>
              <a:off x="0" y="0"/>
              <a:ext cx="1965962" cy="384049"/>
            </a:xfrm>
            <a:prstGeom prst="roundRect">
              <a:avLst>
                <a:gd name="adj" fmla="val 16667"/>
              </a:avLst>
            </a:prstGeom>
            <a:solidFill>
              <a:srgbClr val="FFE4EB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5" name="Спасибо за внимание"/>
            <p:cNvSpPr txBox="1"/>
            <p:nvPr/>
          </p:nvSpPr>
          <p:spPr>
            <a:xfrm>
              <a:off x="64467" y="44703"/>
              <a:ext cx="1837027" cy="2946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b="1" sz="1200">
                  <a:solidFill>
                    <a:srgbClr val="1C2C42"/>
                  </a:solidFill>
                  <a:latin typeface="Avenir Next Regular"/>
                  <a:ea typeface="Avenir Next Regular"/>
                  <a:cs typeface="Avenir Next Regular"/>
                  <a:sym typeface="Avenir Next Regular"/>
                </a:defRPr>
              </a:lvl1pPr>
            </a:lstStyle>
            <a:p>
              <a:pPr/>
              <a:r>
                <a:t>Спасибо за внимание</a:t>
              </a:r>
            </a:p>
          </p:txBody>
        </p:sp>
      </p:grpSp>
      <p:sp>
        <p:nvSpPr>
          <p:cNvPr id="217" name="Rounded Rectangle 7"/>
          <p:cNvSpPr/>
          <p:nvPr/>
        </p:nvSpPr>
        <p:spPr>
          <a:xfrm>
            <a:off x="7680959" y="1143000"/>
            <a:ext cx="3383282" cy="4480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218" name="Снимок экрана 2026-03-25 в 17.26.29.png" descr="Снимок экрана 2026-03-25 в 17.26.29.png"/>
          <p:cNvPicPr>
            <a:picLocks noChangeAspect="1"/>
          </p:cNvPicPr>
          <p:nvPr/>
        </p:nvPicPr>
        <p:blipFill>
          <a:blip r:embed="rId2">
            <a:extLst/>
          </a:blip>
          <a:srcRect l="9453" t="12132" r="8580" b="5670"/>
          <a:stretch>
            <a:fillRect/>
          </a:stretch>
        </p:blipFill>
        <p:spPr>
          <a:xfrm>
            <a:off x="8050313" y="2066347"/>
            <a:ext cx="2672907" cy="2957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2" h="21523" fill="norm" stroke="1" extrusionOk="0">
                <a:moveTo>
                  <a:pt x="2838" y="11"/>
                </a:moveTo>
                <a:cubicBezTo>
                  <a:pt x="2774" y="24"/>
                  <a:pt x="2740" y="45"/>
                  <a:pt x="2692" y="77"/>
                </a:cubicBezTo>
                <a:cubicBezTo>
                  <a:pt x="2243" y="379"/>
                  <a:pt x="1258" y="2019"/>
                  <a:pt x="845" y="3153"/>
                </a:cubicBezTo>
                <a:cubicBezTo>
                  <a:pt x="475" y="4173"/>
                  <a:pt x="71" y="6625"/>
                  <a:pt x="14" y="8193"/>
                </a:cubicBezTo>
                <a:cubicBezTo>
                  <a:pt x="-100" y="11345"/>
                  <a:pt x="492" y="14083"/>
                  <a:pt x="1810" y="16476"/>
                </a:cubicBezTo>
                <a:cubicBezTo>
                  <a:pt x="3383" y="19333"/>
                  <a:pt x="5448" y="20889"/>
                  <a:pt x="8330" y="21397"/>
                </a:cubicBezTo>
                <a:cubicBezTo>
                  <a:pt x="9323" y="21572"/>
                  <a:pt x="10019" y="21566"/>
                  <a:pt x="11122" y="21371"/>
                </a:cubicBezTo>
                <a:cubicBezTo>
                  <a:pt x="12574" y="21114"/>
                  <a:pt x="14174" y="20320"/>
                  <a:pt x="15634" y="19127"/>
                </a:cubicBezTo>
                <a:cubicBezTo>
                  <a:pt x="16109" y="18738"/>
                  <a:pt x="17185" y="17660"/>
                  <a:pt x="17458" y="17302"/>
                </a:cubicBezTo>
                <a:cubicBezTo>
                  <a:pt x="18497" y="15943"/>
                  <a:pt x="18973" y="15206"/>
                  <a:pt x="19508" y="14122"/>
                </a:cubicBezTo>
                <a:cubicBezTo>
                  <a:pt x="20413" y="12288"/>
                  <a:pt x="20847" y="10802"/>
                  <a:pt x="21304" y="7959"/>
                </a:cubicBezTo>
                <a:cubicBezTo>
                  <a:pt x="21500" y="6738"/>
                  <a:pt x="21487" y="5319"/>
                  <a:pt x="21272" y="4358"/>
                </a:cubicBezTo>
                <a:cubicBezTo>
                  <a:pt x="21069" y="3449"/>
                  <a:pt x="20741" y="2519"/>
                  <a:pt x="20565" y="2336"/>
                </a:cubicBezTo>
                <a:cubicBezTo>
                  <a:pt x="20467" y="2234"/>
                  <a:pt x="20322" y="2179"/>
                  <a:pt x="20015" y="2134"/>
                </a:cubicBezTo>
                <a:cubicBezTo>
                  <a:pt x="19785" y="2100"/>
                  <a:pt x="19358" y="2024"/>
                  <a:pt x="19066" y="1963"/>
                </a:cubicBezTo>
                <a:cubicBezTo>
                  <a:pt x="18775" y="1901"/>
                  <a:pt x="18381" y="1848"/>
                  <a:pt x="18193" y="1848"/>
                </a:cubicBezTo>
                <a:cubicBezTo>
                  <a:pt x="17760" y="1848"/>
                  <a:pt x="17459" y="1773"/>
                  <a:pt x="17248" y="1605"/>
                </a:cubicBezTo>
                <a:cubicBezTo>
                  <a:pt x="17020" y="1422"/>
                  <a:pt x="16801" y="1311"/>
                  <a:pt x="16547" y="1259"/>
                </a:cubicBezTo>
                <a:cubicBezTo>
                  <a:pt x="16366" y="1222"/>
                  <a:pt x="16311" y="1238"/>
                  <a:pt x="16200" y="1354"/>
                </a:cubicBezTo>
                <a:cubicBezTo>
                  <a:pt x="16010" y="1552"/>
                  <a:pt x="15785" y="1580"/>
                  <a:pt x="15070" y="1481"/>
                </a:cubicBezTo>
                <a:cubicBezTo>
                  <a:pt x="14723" y="1432"/>
                  <a:pt x="14179" y="1359"/>
                  <a:pt x="13860" y="1322"/>
                </a:cubicBezTo>
                <a:cubicBezTo>
                  <a:pt x="13541" y="1284"/>
                  <a:pt x="12990" y="1203"/>
                  <a:pt x="12635" y="1140"/>
                </a:cubicBezTo>
                <a:cubicBezTo>
                  <a:pt x="12281" y="1077"/>
                  <a:pt x="11702" y="1013"/>
                  <a:pt x="11348" y="999"/>
                </a:cubicBezTo>
                <a:cubicBezTo>
                  <a:pt x="10994" y="986"/>
                  <a:pt x="10472" y="936"/>
                  <a:pt x="10189" y="889"/>
                </a:cubicBezTo>
                <a:cubicBezTo>
                  <a:pt x="9463" y="771"/>
                  <a:pt x="7984" y="579"/>
                  <a:pt x="7222" y="505"/>
                </a:cubicBezTo>
                <a:cubicBezTo>
                  <a:pt x="6868" y="471"/>
                  <a:pt x="6103" y="381"/>
                  <a:pt x="5519" y="303"/>
                </a:cubicBezTo>
                <a:cubicBezTo>
                  <a:pt x="3502" y="36"/>
                  <a:pt x="3029" y="-28"/>
                  <a:pt x="2838" y="11"/>
                </a:cubicBez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